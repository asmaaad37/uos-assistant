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3" r:id="rId18"/>
    <p:sldId id="271" r:id="rId19"/>
    <p:sldId id="272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97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B99B-EFAE-C4D4-7D59-23E80B88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367ED-3BF3-9DED-5CB3-C24528164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95866-58DB-D17F-DDCE-9EFB97614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60CA7-4D7F-1031-6B18-25DB522C0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7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C2A8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F5B83D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4A8DDC">
              <a:alpha val="6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41148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14300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FINAL YEAR PROJECT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EBE0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UOS ADMISSION ASSISTANT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Intelligent University Voice Agent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3A8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An Urdu-speaking voice assistant for the University of Sargodha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8B3A8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Built on Retrieval-Augmented Generation (RAG)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7863840" cy="713232"/>
          </a:xfrm>
          <a:prstGeom prst="rect">
            <a:avLst/>
          </a:prstGeom>
          <a:solidFill>
            <a:srgbClr val="0F1B2D"/>
          </a:solidFill>
          <a:ln w="6350">
            <a:solidFill>
              <a:srgbClr val="1F2D42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4864" cy="71323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4124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TEAM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431596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Muhammad Asmaad Saeed   ·   Laiba Siraj   ·   Fatima Zahid   ·   Areeba Rehman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45262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A"/>
                </a:solidFill>
                <a:latin typeface="Inter" pitchFamily="34" charset="0"/>
                <a:ea typeface="Inter" pitchFamily="34" charset="-122"/>
                <a:cs typeface="Arial" panose="020B0604020202020204" pitchFamily="34" charset="0"/>
              </a:rPr>
              <a:t>Advisor: Dr. Muhammad Saad Razzaq   ·   Manager: Dr. Muhammad Ilyas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B6B"/>
                </a:solidFill>
                <a:ea typeface="Inter" pitchFamily="34" charset="-122"/>
                <a:cs typeface="Arial" panose="020B0604020202020204" pitchFamily="34" charset="0"/>
              </a:rPr>
              <a:t>01 · THE PROBLEM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Arial" panose="020B0604020202020204" pitchFamily="34" charset="0"/>
              </a:rPr>
              <a:t>Why Did We Build UOS ASSISTANT?</a:t>
            </a:r>
            <a:endParaRPr lang="en-US" sz="2500" dirty="0"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F7B6B">
              <a:alpha val="70000"/>
            </a:srgbClr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06040" cy="1417320"/>
          </a:xfrm>
          <a:prstGeom prst="rect">
            <a:avLst/>
          </a:prstGeom>
          <a:solidFill>
            <a:srgbClr val="0F1B2D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7B6B"/>
                </a:solidFill>
                <a:ea typeface="Inter" pitchFamily="34" charset="-122"/>
                <a:cs typeface="Arial" panose="020B0604020202020204" pitchFamily="34" charset="0"/>
              </a:rPr>
              <a:t>200+</a:t>
            </a:r>
            <a:endParaRPr lang="en-US" sz="5600" dirty="0"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Arial" panose="020B0604020202020204" pitchFamily="34" charset="0"/>
              </a:rPr>
              <a:t>Daily inbound calls to UoS admissions office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06040" cy="1417320"/>
          </a:xfrm>
          <a:prstGeom prst="rect">
            <a:avLst/>
          </a:prstGeom>
          <a:solidFill>
            <a:srgbClr val="0F1B2D"/>
          </a:solidFill>
          <a:ln/>
          <a:effectLst>
            <a:outerShdw blurRad="1935480000" dist="48387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06040" cy="54864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16276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B83D"/>
                </a:solidFill>
                <a:ea typeface="Inter" pitchFamily="34" charset="-122"/>
                <a:cs typeface="Arial" panose="020B0604020202020204" pitchFamily="34" charset="0"/>
              </a:rPr>
              <a:t>70%</a:t>
            </a:r>
            <a:endParaRPr lang="en-US" sz="5600" dirty="0"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Arial" panose="020B0604020202020204" pitchFamily="34" charset="0"/>
              </a:rPr>
              <a:t>Calls are repetitive: fees, eligibility, dates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14173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06040" cy="54864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5040" y="16276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7B6B"/>
                </a:solidFill>
                <a:ea typeface="Inter" pitchFamily="34" charset="-122"/>
                <a:cs typeface="Arial" panose="020B0604020202020204" pitchFamily="34" charset="0"/>
              </a:rPr>
              <a:t>15m</a:t>
            </a:r>
            <a:endParaRPr lang="en-US" sz="5600" dirty="0"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Arial" panose="020B0604020202020204" pitchFamily="34" charset="0"/>
              </a:rPr>
              <a:t>Average wait time per caller, peaks at hour+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" y="32186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B6B"/>
                </a:solidFill>
                <a:ea typeface="Inter" pitchFamily="34" charset="-122"/>
                <a:cs typeface="Arial" panose="020B0604020202020204" pitchFamily="34" charset="0"/>
              </a:rPr>
              <a:t>THE HUMAN COST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" y="3575304"/>
            <a:ext cx="109728" cy="109728"/>
          </a:xfrm>
          <a:prstGeom prst="ellipse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ea typeface="Inter" pitchFamily="34" charset="-122"/>
                <a:cs typeface="Arial" panose="020B0604020202020204" pitchFamily="34" charset="0"/>
              </a:rPr>
              <a:t>Staff burnout from repetitive question-answering, especially in admission season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90288" y="3575304"/>
            <a:ext cx="109728" cy="109728"/>
          </a:xfrm>
          <a:prstGeom prst="ellipse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73168" y="35204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ea typeface="Inter" pitchFamily="34" charset="-122"/>
                <a:cs typeface="Arial" panose="020B0604020202020204" pitchFamily="34" charset="0"/>
              </a:rPr>
              <a:t>Urdu-speaking callers from rural areas face English-only IVR systems — major accessibility gap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" y="4078224"/>
            <a:ext cx="109728" cy="109728"/>
          </a:xfrm>
          <a:prstGeom prst="ellipse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" y="4023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ea typeface="Inter" pitchFamily="34" charset="-122"/>
                <a:cs typeface="Arial" panose="020B0604020202020204" pitchFamily="34" charset="0"/>
              </a:rPr>
              <a:t>Zero availability outside office hours; calls go unanswered after 4pm and on holidays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90288" y="4078224"/>
            <a:ext cx="109728" cy="109728"/>
          </a:xfrm>
          <a:prstGeom prst="ellipse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73168" y="4023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ea typeface="Inter" pitchFamily="34" charset="-122"/>
                <a:cs typeface="Arial" panose="020B0604020202020204" pitchFamily="34" charset="0"/>
              </a:rPr>
              <a:t>Inconsistent responses across staff; misinformation propagates to applicants</a:t>
            </a:r>
            <a:endParaRPr lang="en-US" sz="1000" dirty="0"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02 · MARKET LANDSCAPE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What Solutions Already Exist?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4A8DDC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4173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AutoCalls.ai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91640"/>
            <a:ext cx="777240" cy="237744"/>
          </a:xfrm>
          <a:prstGeom prst="rect">
            <a:avLst/>
          </a:prstGeom>
          <a:solidFill>
            <a:srgbClr val="FF7B6B">
              <a:alpha val="35000"/>
            </a:srgbClr>
          </a:solidFill>
          <a:ln w="6350">
            <a:solidFill>
              <a:srgbClr val="FF7B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No Urdu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Generic call flow builder. English-first, no Urdu dialect support, rule-based not AI-driven.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3931920" cy="14173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39319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Parloa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777240" cy="237744"/>
          </a:xfrm>
          <a:prstGeom prst="rect">
            <a:avLst/>
          </a:prstGeom>
          <a:solidFill>
            <a:srgbClr val="FF7B6B">
              <a:alpha val="35000"/>
            </a:srgbClr>
          </a:solidFill>
          <a:ln w="6350">
            <a:solidFill>
              <a:srgbClr val="FF7B6B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7" name="Text 15"/>
          <p:cNvSpPr/>
          <p:nvPr/>
        </p:nvSpPr>
        <p:spPr>
          <a:xfrm>
            <a:off x="763524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Enterprise voice AI for customer service. Expensive licensing, not designed for academic institutions.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4173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ElevenLabs Agents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20440" y="3291840"/>
            <a:ext cx="777240" cy="237744"/>
          </a:xfrm>
          <a:prstGeom prst="rect">
            <a:avLst/>
          </a:prstGeom>
          <a:solidFill>
            <a:srgbClr val="FF7B6B">
              <a:alpha val="35000"/>
            </a:srgbClr>
          </a:solidFill>
          <a:ln w="6350">
            <a:solidFill>
              <a:srgbClr val="FF7B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3520440" y="32918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No KB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High-quality voice generation but English-centric, generic agents, no university knowledge base.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108960"/>
            <a:ext cx="3931920" cy="14173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39319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75488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Twilio Voice + Bots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3291840"/>
            <a:ext cx="777240" cy="237744"/>
          </a:xfrm>
          <a:prstGeom prst="rect">
            <a:avLst/>
          </a:prstGeom>
          <a:solidFill>
            <a:srgbClr val="FF7B6B">
              <a:alpha val="35000"/>
            </a:srgbClr>
          </a:solidFill>
          <a:ln w="6350">
            <a:solidFill>
              <a:srgbClr val="FF7B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7635240" y="32918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DIY-heavy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Telephony + chatbots. Requires extensive custom development, no out-of-box Urdu STT/TTS.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solidFill>
            <a:srgbClr val="00C2A8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5EEBD8"/>
                </a:solidFill>
                <a:ea typeface="Inter" pitchFamily="34" charset="-122"/>
                <a:cs typeface="Inter" pitchFamily="34" charset="-120"/>
              </a:rPr>
              <a:t>Conclusion: No existing solution combines Urdu-first voice + university domain knowledge + RAG retrieval at low cost.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03 · R&amp;D JOURNEY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First Approach: Modular Pipeline + KG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We initially designed a 4-module pipeline using a Knowledge Graph for structured retrieval: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87452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ASR + STT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Google STT (Urdu)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3746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537460" y="1874520"/>
            <a:ext cx="18745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53746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746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NLU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3746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Intent + Entity Detect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1198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617720" y="1874520"/>
            <a:ext cx="187452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61772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KG + GraphRAG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Neo4j + Cypher Traversal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9798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697980" y="1874520"/>
            <a:ext cx="187452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69798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9798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9798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Google TTS WaveNet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52339"/>
          </a:solidFill>
          <a:ln w="6350">
            <a:solidFill>
              <a:srgbClr val="1F2D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38862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WHAT WE BUILT AND TESTED</a:t>
            </a:r>
            <a:endParaRPr lang="en-US" sz="1100" b="1" dirty="0"/>
          </a:p>
        </p:txBody>
      </p:sp>
      <p:sp>
        <p:nvSpPr>
          <p:cNvPr id="33" name="Shape 31"/>
          <p:cNvSpPr/>
          <p:nvPr/>
        </p:nvSpPr>
        <p:spPr>
          <a:xfrm>
            <a:off x="667512" y="4160520"/>
            <a:ext cx="91440" cy="91440"/>
          </a:xfrm>
          <a:prstGeom prst="ellipse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795528" y="414223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Neo4j AuraDB · GraphRAG SDK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58237" y="4160520"/>
            <a:ext cx="91440" cy="91440"/>
          </a:xfrm>
          <a:prstGeom prst="ellipse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2788920" y="414223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Ollama (qwen2.5, llama3.2) local LLMs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49724" y="4170235"/>
            <a:ext cx="91440" cy="91440"/>
          </a:xfrm>
          <a:prstGeom prst="ellipse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782312" y="414223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SentenceTransformers + Vector index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38544" y="4166901"/>
            <a:ext cx="91440" cy="91440"/>
          </a:xfrm>
          <a:prstGeom prst="ellipse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775704" y="414223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Cypher queries for graph traversal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04 · WHAT DIDN'T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Limitations of the Modular Approach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F7B6B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21792" y="167335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Entity Normalization Hell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65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LLM extraction produced 8+ variants of 'BS Computer Science' — required manual node merging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50876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782312" y="167335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782312" y="16642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48072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Brittle Cypher Queries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48072" y="1965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Graph traversal returned irrelevant context when entities weren't extracted perfectly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21792" y="277063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21792" y="276148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2743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LLM Reasoning Failures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063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Small open-source models (qwen 1.5b/3b) hallucinated and gave incoherent answers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60604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617720" y="260604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782312" y="277063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782312" y="276148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48072" y="2743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Resource Heavy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48072" y="3063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Local LLMs needed 4-5GB RAM; cloud Neo4j had connection timeouts on free tier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21792" y="386791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21792" y="38587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840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Complex Setup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4160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Required Neo4j, vector index, multiple LLMs, embedders — too many moving parts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3703320"/>
            <a:ext cx="3977640" cy="960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4617720" y="3703320"/>
            <a:ext cx="45720" cy="9601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4782312" y="3867912"/>
            <a:ext cx="292608" cy="292608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4782312" y="38587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48072" y="3840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Limited Domain Coverage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48072" y="4160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KG schema was rigid; couldn't easily ingest new document types or unstructured content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05 · THE PIVOT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New Approach: Clean RAG Architecture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00C2A8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We replaced the complex modular pipeline with a clean, production-grade RAG system: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50876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508760" cy="54864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Voice 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Google STT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42316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25980" y="1920240"/>
            <a:ext cx="150876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125980" y="1920240"/>
            <a:ext cx="1508760" cy="54864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12598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STEP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2598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Embed Query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2598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OpenAI text-embed-3-small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34740" y="242316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94760" y="1920240"/>
            <a:ext cx="150876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794760" y="1920240"/>
            <a:ext cx="1508760" cy="54864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79476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STEP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9476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Vector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PostgreSQL + pgvector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42316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63540" y="1920240"/>
            <a:ext cx="150876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463540" y="1920240"/>
            <a:ext cx="1508760" cy="54864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46354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STEP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354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Generate Answer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6354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OpenAI GPT-4o Mini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72300" y="242316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1920240"/>
            <a:ext cx="150876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7132320" y="1920240"/>
            <a:ext cx="1508760" cy="54864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713232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STEP 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0" y="2331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Voice Out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271576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Google TTS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152339"/>
          </a:solidFill>
          <a:ln w="63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38" name="Text 36"/>
          <p:cNvSpPr/>
          <p:nvPr/>
        </p:nvSpPr>
        <p:spPr>
          <a:xfrm>
            <a:off x="658368" y="37216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WHY THIS IS BETTER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" y="402336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" y="4023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Production-grade LLMs (GPT-4o Mini) — reliable reasoning, no hallucinations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81728" y="402336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82896" y="4023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Single vector DB — simpler infrastructure, faster queries, easier to maintain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9536" y="4370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No entity normalization — pure semantic search handles all variations naturally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81728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82896" y="43708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Easy to extend — add new documents and the system learns automatically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F5B83D">
              <a:alpha val="6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Inter"/>
                <a:ea typeface="Inter" pitchFamily="34" charset="-122"/>
                <a:cs typeface="Inter" pitchFamily="34" charset="-120"/>
              </a:rPr>
              <a:t>PART</a:t>
            </a:r>
            <a:endParaRPr lang="en-US" sz="1100" dirty="0"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02</a:t>
            </a:r>
            <a:endParaRPr lang="en-US" sz="14000" dirty="0">
              <a:latin typeface="Inte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8288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The User Interface</a:t>
            </a:r>
            <a:endParaRPr lang="en-US" sz="3800" dirty="0">
              <a:latin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3A8"/>
                </a:solidFill>
                <a:latin typeface="Inter"/>
                <a:ea typeface="Inter" pitchFamily="34" charset="-122"/>
                <a:cs typeface="Inter" pitchFamily="34" charset="-120"/>
              </a:rPr>
              <a:t>Android-native voice experience with Google STT &amp; TTS</a:t>
            </a:r>
            <a:endParaRPr lang="en-US" sz="1400" dirty="0">
              <a:latin typeface="Inte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365760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PK" dirty="0">
              <a:latin typeface="Inte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45720" cy="4572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2A8"/>
                </a:solidFill>
                <a:latin typeface="Inter"/>
                <a:ea typeface="Inter" pitchFamily="34" charset="-122"/>
                <a:cs typeface="Inter" pitchFamily="34" charset="-120"/>
              </a:rPr>
              <a:t>PRESENTED BY</a:t>
            </a:r>
            <a:endParaRPr lang="en-US" sz="750" dirty="0">
              <a:latin typeface="Inte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690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Areeba Rehman</a:t>
            </a:r>
            <a:endParaRPr lang="en-US" sz="1300" dirty="0"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UI LAYER ·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UOS Assistant — Native Android App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00C2A8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0F1B2D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1737360" cy="2834640"/>
          </a:xfrm>
          <a:prstGeom prst="roundRect">
            <a:avLst>
              <a:gd name="adj" fmla="val 4211"/>
            </a:avLst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UOS Assistant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Tap to speak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27432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898648"/>
            <a:ext cx="329184" cy="3291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3611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0F1B2D"/>
          </a:solidFill>
          <a:ln w="3810">
            <a:solidFill>
              <a:srgbClr val="1F2D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914400" y="3657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Response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"BS CS فیس..."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926080" y="155448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2926080" y="1554480"/>
            <a:ext cx="45720" cy="43891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063240" y="16093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PLATFORM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063240" y="175564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Android Native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926080" y="205740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2926080" y="2057400"/>
            <a:ext cx="45720" cy="438912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3063240" y="21122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LANGUAGE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063240" y="225856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Java + Kotlin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926080" y="256032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2926080" y="2560320"/>
            <a:ext cx="45720" cy="438912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063240" y="26151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MIN SDK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063240" y="276148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Android 7.0 (API 24)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926080" y="306324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5"/>
          <p:cNvSpPr/>
          <p:nvPr/>
        </p:nvSpPr>
        <p:spPr>
          <a:xfrm>
            <a:off x="2926080" y="3063240"/>
            <a:ext cx="45720" cy="43891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3063240" y="31181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VOICE INPUT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063240" y="326440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Google STT API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926080" y="356616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29"/>
          <p:cNvSpPr/>
          <p:nvPr/>
        </p:nvSpPr>
        <p:spPr>
          <a:xfrm>
            <a:off x="2926080" y="3566160"/>
            <a:ext cx="45720" cy="43891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3063240" y="3621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VOICE OUTPUT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063240" y="376732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Google TTS WaveNet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926080" y="4069080"/>
            <a:ext cx="5669280" cy="43891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3"/>
          <p:cNvSpPr/>
          <p:nvPr/>
        </p:nvSpPr>
        <p:spPr>
          <a:xfrm>
            <a:off x="2926080" y="4069080"/>
            <a:ext cx="45720" cy="438912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3063240" y="41239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BACKEND CONNECT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063240" y="427024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REST API over HTTPS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UI LAYER · 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Google Speech-to-Text Integration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00C2A8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7818120" y="457200"/>
            <a:ext cx="868680" cy="868680"/>
          </a:xfrm>
          <a:prstGeom prst="ellipse">
            <a:avLst/>
          </a:prstGeom>
          <a:solidFill>
            <a:srgbClr val="00C2A8">
              <a:alpha val="1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How the STT Flow Works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892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Audio Capture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User taps mic — Android AudioRecord captures raw PCM audio at 16kHz mono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572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441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Streaming to Google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Audio chunks are streamed live to Google Cloud STT via gRPC for low laten</a:t>
            </a:r>
            <a:r>
              <a:rPr lang="en-US" sz="9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cy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572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2990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Urdu Recognition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Language code 'ur-PK' enables native Urdu transcription with Pakistani dialect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5720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5387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Code-Switch Handling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" y="3767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Multi-language config detects Urdu-English code-switching ('admission کب ہے')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572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40873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Text to Backend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012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Final transcript sent to Agent Controller via HTTPS POST to /query endpoint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UI LAYER ·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Google Text-to-Speech Integration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00C2A8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7818120" y="457200"/>
            <a:ext cx="868680" cy="868680"/>
          </a:xfrm>
          <a:prstGeom prst="ellipse">
            <a:avLst/>
          </a:prstGeom>
          <a:solidFill>
            <a:srgbClr val="00C2A8">
              <a:alpha val="1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64008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508760"/>
            <a:ext cx="4023360" cy="3246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57200" y="1508760"/>
            <a:ext cx="402336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TTS PIPELINE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020824"/>
            <a:ext cx="201168" cy="201168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4008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32688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Receive Response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JSON {response_text} from backend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523744"/>
            <a:ext cx="201168" cy="201168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64008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32688" y="2487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Extract Speech Text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2679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Parse response_text field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026664"/>
            <a:ext cx="201168" cy="201168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40080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32688" y="2990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TTS API 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POST to /v1/synthesize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64008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32688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Audio Stream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2688" y="3685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Receive MP3/Opus audio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032504"/>
            <a:ext cx="201168" cy="201168"/>
          </a:xfrm>
          <a:prstGeom prst="ellipse">
            <a:avLst/>
          </a:prstGeom>
          <a:solidFill>
            <a:srgbClr val="00C2A8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64008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32688" y="3995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Playback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32688" y="4187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Android MediaPlayer plays audio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63440" y="1508760"/>
            <a:ext cx="4023360" cy="324612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0"/>
          <p:cNvSpPr/>
          <p:nvPr/>
        </p:nvSpPr>
        <p:spPr>
          <a:xfrm>
            <a:off x="4663440" y="1508760"/>
            <a:ext cx="402336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1"/>
          <p:cNvSpPr/>
          <p:nvPr/>
        </p:nvSpPr>
        <p:spPr>
          <a:xfrm>
            <a:off x="484632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VOICE CONFIGURATION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2011680"/>
            <a:ext cx="36576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4983480" y="2048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ur-PK-Standard-A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983480" y="22128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Urdu Female (Standard)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36"/>
          <p:cNvSpPr/>
          <p:nvPr/>
        </p:nvSpPr>
        <p:spPr>
          <a:xfrm>
            <a:off x="4846320" y="2514600"/>
            <a:ext cx="36576" cy="41148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4983480" y="25511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ur-PK-Wavenet-A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983480" y="27157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Urdu Female (WaveNet)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86384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★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846320" y="3017520"/>
            <a:ext cx="36576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1"/>
          <p:cNvSpPr/>
          <p:nvPr/>
        </p:nvSpPr>
        <p:spPr>
          <a:xfrm>
            <a:off x="49834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en-US-Wavenet-F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983480" y="32186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English Female (WaveNet)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846320" y="3703320"/>
            <a:ext cx="3657600" cy="96012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4"/>
          <p:cNvSpPr/>
          <p:nvPr/>
        </p:nvSpPr>
        <p:spPr>
          <a:xfrm>
            <a:off x="4937760" y="37764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KEY PARAMETERS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937760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Speaking Rate: 1.0   ·   Pitch: 0   ·   Format: MP3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937760" y="4187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Sample Rate: 24kHz   ·   Channels: Mono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937760" y="4407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Latency: &lt; 800ms typical end-to-end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F5B83D">
              <a:alpha val="10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0" y="2743200"/>
            <a:ext cx="6400800" cy="6400800"/>
          </a:xfrm>
          <a:prstGeom prst="ellipse">
            <a:avLst/>
          </a:prstGeom>
          <a:solidFill>
            <a:srgbClr val="4A8DDC">
              <a:alpha val="8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B83D"/>
                </a:solidFill>
                <a:latin typeface="Inter"/>
                <a:ea typeface="Inter" pitchFamily="34" charset="-122"/>
                <a:cs typeface="Inter" pitchFamily="34" charset="-120"/>
              </a:rPr>
              <a:t>PART</a:t>
            </a:r>
            <a:endParaRPr lang="en-US" sz="1100" dirty="0"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03</a:t>
            </a:r>
            <a:endParaRPr lang="en-US" sz="14000" dirty="0">
              <a:latin typeface="Inte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828800" cy="36576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The Backend</a:t>
            </a:r>
            <a:endParaRPr lang="en-US" sz="3800" dirty="0">
              <a:latin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3A8"/>
                </a:solidFill>
                <a:latin typeface="Inter"/>
                <a:ea typeface="Inter" pitchFamily="34" charset="-122"/>
                <a:cs typeface="Inter" pitchFamily="34" charset="-120"/>
              </a:rPr>
              <a:t>Agent Controller, embeddings, vector search &amp; GPT-4o Mini</a:t>
            </a:r>
            <a:endParaRPr lang="en-US" sz="1400" dirty="0">
              <a:latin typeface="Inte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365760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F5B83D"/>
            </a:solidFill>
            <a:prstDash val="solid"/>
          </a:ln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45720" cy="4572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B83D"/>
                </a:solidFill>
                <a:latin typeface="Inter"/>
                <a:ea typeface="Inter" pitchFamily="34" charset="-122"/>
                <a:cs typeface="Inter" pitchFamily="34" charset="-120"/>
              </a:rPr>
              <a:t>PRESENTED BY</a:t>
            </a:r>
            <a:endParaRPr lang="en-US" sz="750" dirty="0">
              <a:latin typeface="Inte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690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latin typeface="Inter" pitchFamily="34" charset="0"/>
                <a:ea typeface="Inter"/>
                <a:cs typeface="Inter" pitchFamily="34" charset="-120"/>
              </a:rPr>
              <a:t>Laiba Siraj</a:t>
            </a:r>
            <a:endParaRPr lang="en-US" sz="1300" dirty="0"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BACKEND ·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Backend Architecture at a Glance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0604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9280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286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From UI (text)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178308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246120" y="1783080"/>
            <a:ext cx="260604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383280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89280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2286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Agent Controller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FastAPI router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35040" y="178308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6035040" y="1783080"/>
            <a:ext cx="260604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6172200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89280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2286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7220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OpenAI text-embed-3-small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" y="320040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2"/>
          <p:cNvSpPr/>
          <p:nvPr/>
        </p:nvSpPr>
        <p:spPr>
          <a:xfrm>
            <a:off x="457200" y="3200400"/>
            <a:ext cx="260604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3"/>
          <p:cNvSpPr/>
          <p:nvPr/>
        </p:nvSpPr>
        <p:spPr>
          <a:xfrm>
            <a:off x="594360" y="3310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310128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94360" y="3703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94360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PostgreSQL pgvector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246120" y="320040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27"/>
          <p:cNvSpPr/>
          <p:nvPr/>
        </p:nvSpPr>
        <p:spPr>
          <a:xfrm>
            <a:off x="3246120" y="3200400"/>
            <a:ext cx="260604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8"/>
          <p:cNvSpPr/>
          <p:nvPr/>
        </p:nvSpPr>
        <p:spPr>
          <a:xfrm>
            <a:off x="3383280" y="3310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1012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383280" y="3703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Prompt + Context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3383280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Structured input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035040" y="3200400"/>
            <a:ext cx="260604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2"/>
          <p:cNvSpPr/>
          <p:nvPr/>
        </p:nvSpPr>
        <p:spPr>
          <a:xfrm>
            <a:off x="6035040" y="3200400"/>
            <a:ext cx="260604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3"/>
          <p:cNvSpPr/>
          <p:nvPr/>
        </p:nvSpPr>
        <p:spPr>
          <a:xfrm>
            <a:off x="6172200" y="3310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310128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172200" y="3703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GPT-4o Mini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6172200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Response generation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solidFill>
            <a:srgbClr val="152339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45" name="Text 3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All hosted on a Linux server (Azure)  ·  Containerized with Docker  ·  Response sent back to UI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BACKEND · ORCHESTRATION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Agent Controller — The Brain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The Agent Controller is the central orchestrator. It receives the query, manages state, and coordinates every step: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2834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Receive transcribed text from the UI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2706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Validate and sanitize the query input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Call OpenAI Embedding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Execute vector similarity search on PostgreSQL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55701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Compose the LLM prompt with retrieved context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Call OpenAI GPT-4o Mini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1239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Format and return JSON response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Log query, retrieval, and response for analytics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965960"/>
            <a:ext cx="4023360" cy="2834640"/>
          </a:xfrm>
          <a:prstGeom prst="rect">
            <a:avLst/>
          </a:prstGeom>
          <a:solidFill>
            <a:srgbClr val="0A1424"/>
          </a:solidFill>
          <a:ln w="6350">
            <a:solidFill>
              <a:srgbClr val="1F2D42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402336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API ENDPOINT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BD8"/>
                </a:solidFill>
                <a:ea typeface="Consolas" pitchFamily="34" charset="-122"/>
                <a:cs typeface="Consolas" pitchFamily="34" charset="-120"/>
              </a:rPr>
              <a:t>POST 13.233.44.223/agent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670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A"/>
                </a:solidFill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Request: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127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</a:rPr>
              <a:t>“</a:t>
            </a:r>
            <a:r>
              <a:rPr lang="en-US" sz="900" dirty="0" err="1">
                <a:solidFill>
                  <a:srgbClr val="F0EBE0"/>
                </a:solidFill>
              </a:rPr>
              <a:t>android_id</a:t>
            </a:r>
            <a:r>
              <a:rPr lang="en-US" sz="900" dirty="0">
                <a:solidFill>
                  <a:srgbClr val="F0EBE0"/>
                </a:solidFill>
              </a:rPr>
              <a:t>”: “user_alpha_123”,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</a:rPr>
              <a:t>“message”: “BS Computer Science ki fee </a:t>
            </a:r>
            <a:r>
              <a:rPr lang="en-US" sz="900" dirty="0" err="1">
                <a:solidFill>
                  <a:srgbClr val="F0EBE0"/>
                </a:solidFill>
              </a:rPr>
              <a:t>kitni</a:t>
            </a:r>
            <a:r>
              <a:rPr lang="en-US" sz="900" dirty="0">
                <a:solidFill>
                  <a:srgbClr val="F0EBE0"/>
                </a:solidFill>
              </a:rPr>
              <a:t> hai?”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</a:rPr>
              <a:t>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Response: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40416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  "response_text": “Undergraduate programs ka merit 40% Matric aur 60% Intermediate marks se calculate </a:t>
            </a:r>
            <a:r>
              <a:rPr lang="en-US" sz="900" dirty="0" err="1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hota</a:t>
            </a:r>
            <a:r>
              <a:rPr lang="en-US" sz="900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 hai. Formula hai: [(Matric Obtained / Total) x 40] + [(Inter Obtained / Total) x 60].“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BACKEND · RETRIEVAL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Embeddings &amp; Vector Search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5720" cy="137160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STEP 1 · EMBEDDING THE QUERY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194560" cy="82296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Input 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"BS CS fee?"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965960"/>
            <a:ext cx="2286000" cy="822960"/>
          </a:xfrm>
          <a:prstGeom prst="rect">
            <a:avLst/>
          </a:prstGeom>
          <a:solidFill>
            <a:srgbClr val="0A1424"/>
          </a:solidFill>
          <a:ln w="6350">
            <a:solidFill>
              <a:srgbClr val="4A8DD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OpenAI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2128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1536 dimensions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2468880" cy="82296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035040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Vector Embedding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2212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BD8"/>
                </a:solidFill>
                <a:ea typeface="Consolas" pitchFamily="34" charset="-122"/>
                <a:cs typeface="Consolas" pitchFamily="34" charset="-120"/>
              </a:rPr>
              <a:t>[0.024, -0.117, 0.891, ...]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45720" cy="178308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136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STEP 2 · SIMILARITY SEARCH IN POSTGRESQL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456432"/>
            <a:ext cx="4754880" cy="123444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777240" y="354787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SELECT </a:t>
            </a:r>
            <a:r>
              <a:rPr lang="en-US" sz="1000" dirty="0" err="1">
                <a:solidFill>
                  <a:schemeClr val="bg1"/>
                </a:solidFill>
              </a:rPr>
              <a:t>user_message</a:t>
            </a:r>
            <a:r>
              <a:rPr lang="en-US" sz="1000" dirty="0">
                <a:solidFill>
                  <a:schemeClr val="bg1"/>
                </a:solidFill>
              </a:rPr>
              <a:t>, </a:t>
            </a:r>
            <a:r>
              <a:rPr lang="en-US" sz="1000" dirty="0" err="1">
                <a:solidFill>
                  <a:schemeClr val="bg1"/>
                </a:solidFill>
              </a:rPr>
              <a:t>ai_response</a:t>
            </a:r>
            <a:r>
              <a:rPr lang="en-US" sz="1000" dirty="0">
                <a:solidFill>
                  <a:schemeClr val="bg1"/>
                </a:solidFill>
              </a:rPr>
              <a:t>_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FROM </a:t>
            </a:r>
            <a:r>
              <a:rPr lang="en-US" sz="1000" dirty="0" err="1">
                <a:solidFill>
                  <a:schemeClr val="bg1"/>
                </a:solidFill>
              </a:rPr>
              <a:t>chat_history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WHERE </a:t>
            </a:r>
            <a:r>
              <a:rPr lang="en-US" sz="1000" dirty="0" err="1">
                <a:solidFill>
                  <a:schemeClr val="bg1"/>
                </a:solidFill>
              </a:rPr>
              <a:t>android_id</a:t>
            </a:r>
            <a:r>
              <a:rPr lang="en-US" sz="1000" dirty="0">
                <a:solidFill>
                  <a:schemeClr val="bg1"/>
                </a:solidFill>
              </a:rPr>
              <a:t> = ?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ORDER BY timestamp DESC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LIMIT 3;</a:t>
            </a:r>
          </a:p>
        </p:txBody>
      </p:sp>
      <p:sp>
        <p:nvSpPr>
          <p:cNvPr id="27" name="Shape 25"/>
          <p:cNvSpPr/>
          <p:nvPr/>
        </p:nvSpPr>
        <p:spPr>
          <a:xfrm>
            <a:off x="5577840" y="3456432"/>
            <a:ext cx="2926080" cy="1234440"/>
          </a:xfrm>
          <a:prstGeom prst="rect">
            <a:avLst/>
          </a:prstGeom>
          <a:solidFill>
            <a:srgbClr val="0A1424"/>
          </a:solidFill>
          <a:ln w="6350">
            <a:solidFill>
              <a:srgbClr val="F5B83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715000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1500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&lt; 50ms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21306" y="4118689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Average query 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428785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Top-5 chunks returned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4462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Cosine similarity index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BACKEND · GENERATION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GPT-4o Mini — Generating the Answer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The Agent Controller combines three inputs and sends them to GPT-4o Mini for the final response: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23662" cy="1229868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023662" cy="45719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48640" y="1901951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SYSTEM PROMPT 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12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" y="2331719"/>
            <a:ext cx="2023662" cy="613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Defines persona, language preference (Urdu-first), response format and tone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45454" y="1841412"/>
            <a:ext cx="2023662" cy="1229868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645454" y="1838469"/>
            <a:ext cx="2023662" cy="45719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2721444" y="188082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USER QUESTION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6482" y="21122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21444" y="2310148"/>
            <a:ext cx="1850556" cy="58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The transcribed user query as received from the UI via Google STT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6276" y="1828615"/>
            <a:ext cx="2023662" cy="1229868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806276" y="1838469"/>
            <a:ext cx="2023662" cy="45719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833708" y="1880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RETRIEVED CONTEXT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4067" y="211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52943" y="2331719"/>
            <a:ext cx="18421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Top-K relevant chunks from PostgreSQL vector search containing UoS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286000" y="3703320"/>
            <a:ext cx="4572000" cy="640080"/>
          </a:xfrm>
          <a:prstGeom prst="rect">
            <a:avLst/>
          </a:prstGeom>
          <a:solidFill>
            <a:srgbClr val="00C2A8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228600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OpenAI GPT-4o Mini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8600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7111E"/>
                </a:solidFill>
                <a:ea typeface="Inter" pitchFamily="34" charset="-122"/>
                <a:cs typeface="Inter" pitchFamily="34" charset="-120"/>
              </a:rPr>
              <a:t>temperature=0.2  ·  json response format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4370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solidFill>
            <a:srgbClr val="0F1B2D"/>
          </a:solidFill>
          <a:ln w="63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Output: { "response_text": "...", "source": "RAG" }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CC8361E7-72F1-DBE4-CE78-7C27043A9F55}"/>
              </a:ext>
            </a:extLst>
          </p:cNvPr>
          <p:cNvSpPr/>
          <p:nvPr/>
        </p:nvSpPr>
        <p:spPr>
          <a:xfrm>
            <a:off x="6967098" y="1827117"/>
            <a:ext cx="2023662" cy="1229868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r>
              <a:rPr lang="en-US" sz="900" b="1" kern="0" spc="200" dirty="0">
                <a:solidFill>
                  <a:schemeClr val="accent5">
                    <a:lumMod val="75000"/>
                  </a:schemeClr>
                </a:solidFill>
                <a:ea typeface="Inter" pitchFamily="34" charset="-122"/>
                <a:cs typeface="Inter" pitchFamily="34" charset="-120"/>
              </a:rPr>
              <a:t>CHAT HISTORY</a:t>
            </a:r>
            <a:endParaRPr lang="en-US" sz="9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40C946A4-7845-3019-0C11-1D454865FB1B}"/>
              </a:ext>
            </a:extLst>
          </p:cNvPr>
          <p:cNvSpPr/>
          <p:nvPr/>
        </p:nvSpPr>
        <p:spPr>
          <a:xfrm>
            <a:off x="6967098" y="1825596"/>
            <a:ext cx="2023662" cy="45719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AF46A1DE-BFB0-8F8E-9CA4-1676B5A40353}"/>
              </a:ext>
            </a:extLst>
          </p:cNvPr>
          <p:cNvSpPr/>
          <p:nvPr/>
        </p:nvSpPr>
        <p:spPr>
          <a:xfrm>
            <a:off x="703110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📋</a:t>
            </a:r>
            <a:endParaRPr lang="en-US" sz="18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E2636E3F-3AA2-E772-B7B0-1D2782A812C7}"/>
              </a:ext>
            </a:extLst>
          </p:cNvPr>
          <p:cNvSpPr/>
          <p:nvPr/>
        </p:nvSpPr>
        <p:spPr>
          <a:xfrm>
            <a:off x="7031106" y="2314216"/>
            <a:ext cx="18421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Saves chat history preferences from the last 3 messages from the user, Saves context.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0B06C-F160-2BDC-950D-4D164AB2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94418C-7AC4-098F-7E47-F8533BB25BE0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A22845-6CE9-C491-969E-2B634B2BF1BD}"/>
              </a:ext>
            </a:extLst>
          </p:cNvPr>
          <p:cNvSpPr/>
          <p:nvPr/>
        </p:nvSpPr>
        <p:spPr>
          <a:xfrm>
            <a:off x="457200" y="155403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1C2EF1-E695-1E54-2413-741AAE4EE8D8}"/>
              </a:ext>
            </a:extLst>
          </p:cNvPr>
          <p:cNvSpPr/>
          <p:nvPr/>
        </p:nvSpPr>
        <p:spPr>
          <a:xfrm>
            <a:off x="713232" y="118827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BACKEND · GENERATION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18CD11-4116-65D4-DCCB-3E6A20E1B044}"/>
              </a:ext>
            </a:extLst>
          </p:cNvPr>
          <p:cNvSpPr/>
          <p:nvPr/>
        </p:nvSpPr>
        <p:spPr>
          <a:xfrm>
            <a:off x="457200" y="26578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</a:rPr>
              <a:t>CHAT HISTORY TABLE</a:t>
            </a:r>
            <a:endParaRPr lang="en-US" sz="25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DEE69EC-5B23-AC5A-8283-5E4E03E26F82}"/>
              </a:ext>
            </a:extLst>
          </p:cNvPr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4" name="Picture 33" descr="A screenshot of a computer">
            <a:extLst>
              <a:ext uri="{FF2B5EF4-FFF2-40B4-BE49-F238E27FC236}">
                <a16:creationId xmlns:a16="http://schemas.microsoft.com/office/drawing/2014/main" id="{FDDD8860-AD88-EA6F-BEB2-EE670859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48" y="800893"/>
            <a:ext cx="8414604" cy="422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78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Server Setup &amp; DevOps Tools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F7B6B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UniQuery runs on a Linux server hosted on Microsoft Azure, managed through these key tools: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93192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00C2A8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140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PuTTY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25880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SSH Client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325880" y="2496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Secure remote access to the Linux server for deployment, restarts and log monitoring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1828800"/>
            <a:ext cx="393192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4572000" y="1828800"/>
            <a:ext cx="39319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754880" y="2029968"/>
            <a:ext cx="502920" cy="502920"/>
          </a:xfrm>
          <a:prstGeom prst="ellipse">
            <a:avLst/>
          </a:prstGeom>
          <a:solidFill>
            <a:srgbClr val="4A8DDC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2140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FileZilla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5440680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FTP Client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40680" y="2496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Upload university documents (PDFs/CSVs) and download log files between local machine and server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291840"/>
            <a:ext cx="393192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457200" y="3291840"/>
            <a:ext cx="393192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640080" y="3493008"/>
            <a:ext cx="502920" cy="502920"/>
          </a:xfrm>
          <a:prstGeom prst="ellipse">
            <a:avLst/>
          </a:prstGeom>
          <a:solidFill>
            <a:srgbClr val="F5B83D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8444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DBeaver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325880" y="3749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Database GUI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325880" y="39593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Inspect, query, and manage the PostgreSQL vector database — verify embeddings &amp; data quality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0" y="3291840"/>
            <a:ext cx="3931920" cy="128016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5"/>
          <p:cNvSpPr/>
          <p:nvPr/>
        </p:nvSpPr>
        <p:spPr>
          <a:xfrm>
            <a:off x="4572000" y="3291840"/>
            <a:ext cx="3931920" cy="457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6"/>
          <p:cNvSpPr/>
          <p:nvPr/>
        </p:nvSpPr>
        <p:spPr>
          <a:xfrm>
            <a:off x="4754880" y="3493008"/>
            <a:ext cx="502920" cy="502920"/>
          </a:xfrm>
          <a:prstGeom prst="ellipse">
            <a:avLst/>
          </a:prstGeom>
          <a:solidFill>
            <a:srgbClr val="FF7B6B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58444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4068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Docker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5440680" y="3749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Containers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440680" y="39593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Containerizes PostgreSQL + pgvector and backend services for consistent, isolated deployments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2743200"/>
            <a:ext cx="8229600" cy="8229600"/>
          </a:xfrm>
          <a:prstGeom prst="ellipse">
            <a:avLst/>
          </a:prstGeom>
          <a:solidFill>
            <a:srgbClr val="FF7B6B">
              <a:alpha val="8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00C2A8">
              <a:alpha val="8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7B6B"/>
                </a:solidFill>
                <a:latin typeface="Inter"/>
                <a:ea typeface="Inter" pitchFamily="34" charset="-122"/>
                <a:cs typeface="Inter" pitchFamily="34" charset="-120"/>
              </a:rPr>
              <a:t>PART</a:t>
            </a:r>
            <a:endParaRPr lang="en-US" sz="1100" dirty="0"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04</a:t>
            </a:r>
            <a:endParaRPr lang="en-US" sz="14000" dirty="0">
              <a:latin typeface="Inte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828800" cy="36576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Data, Infra &amp; Future</a:t>
            </a:r>
            <a:endParaRPr lang="en-US" sz="3800" dirty="0">
              <a:latin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3A8"/>
                </a:solidFill>
                <a:latin typeface="Inter"/>
                <a:ea typeface="Inter" pitchFamily="34" charset="-122"/>
                <a:cs typeface="Inter" pitchFamily="34" charset="-120"/>
              </a:rPr>
              <a:t>RAG ingestion, server tools, benefits &amp; roadmap ahead</a:t>
            </a:r>
            <a:endParaRPr lang="en-US" sz="1400" dirty="0">
              <a:latin typeface="Inte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365760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FF7B6B"/>
            </a:solidFill>
            <a:prstDash val="solid"/>
          </a:ln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45720" cy="45720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7B6B"/>
                </a:solidFill>
                <a:latin typeface="Inter"/>
                <a:ea typeface="Inter" pitchFamily="34" charset="-122"/>
                <a:cs typeface="Inter" pitchFamily="34" charset="-120"/>
              </a:rPr>
              <a:t>PRESENTED BY</a:t>
            </a:r>
            <a:endParaRPr lang="en-US" sz="750" dirty="0">
              <a:latin typeface="Inte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690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latin typeface="Inter" pitchFamily="34" charset="0"/>
                <a:ea typeface="Inter"/>
                <a:cs typeface="Inter" pitchFamily="34" charset="-120"/>
              </a:rPr>
              <a:t>Fatima Zahid</a:t>
            </a:r>
            <a:endParaRPr lang="en-US" sz="1300" dirty="0"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Ingestion Utility— Documents to Vectors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F7B6B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 dedicated offline pipeline that processes university documents and stores them in the vector DB: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874520" cy="457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70432" y="2011680"/>
            <a:ext cx="457200" cy="457200"/>
          </a:xfrm>
          <a:prstGeom prst="ellipse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0756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Source Files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29077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PDFs · CSVs 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3172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3746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2537460" y="1874520"/>
            <a:ext cx="187452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3250692" y="2011680"/>
            <a:ext cx="457200" cy="457200"/>
          </a:xfrm>
          <a:prstGeom prst="ellipse">
            <a:avLst/>
          </a:prstGeom>
          <a:solidFill>
            <a:srgbClr val="F5B83D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20756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3746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Chunking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537460" y="29077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Split docs into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500-char chunks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1198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61772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4617720" y="1874520"/>
            <a:ext cx="18745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0"/>
          <p:cNvSpPr/>
          <p:nvPr/>
        </p:nvSpPr>
        <p:spPr>
          <a:xfrm>
            <a:off x="5330952" y="2011680"/>
            <a:ext cx="457200" cy="457200"/>
          </a:xfrm>
          <a:prstGeom prst="ellipse">
            <a:avLst/>
          </a:prstGeom>
          <a:solidFill>
            <a:srgbClr val="4A8DDC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07568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1772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617720" y="29077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OpenAI generates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1536-dim vectors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92240" y="26060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697980" y="1874520"/>
            <a:ext cx="1874520" cy="169164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5"/>
          <p:cNvSpPr/>
          <p:nvPr/>
        </p:nvSpPr>
        <p:spPr>
          <a:xfrm>
            <a:off x="6697980" y="1874520"/>
            <a:ext cx="187452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6"/>
          <p:cNvSpPr/>
          <p:nvPr/>
        </p:nvSpPr>
        <p:spPr>
          <a:xfrm>
            <a:off x="7411212" y="2011680"/>
            <a:ext cx="457200" cy="457200"/>
          </a:xfrm>
          <a:prstGeom prst="ellipse">
            <a:avLst/>
          </a:prstGeom>
          <a:solidFill>
            <a:srgbClr val="00C2A8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220" y="207568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9798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Storage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697980" y="29077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Insert into Postgres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admission_document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0A1424"/>
          </a:solidFill>
          <a:ln w="6350">
            <a:solidFill>
              <a:srgbClr val="1F2D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0"/>
          <p:cNvSpPr/>
          <p:nvPr/>
        </p:nvSpPr>
        <p:spPr>
          <a:xfrm>
            <a:off x="594360" y="38862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TABLE SCHEMA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9436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94360" y="4416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ea typeface="Consolas" pitchFamily="34" charset="-122"/>
                <a:cs typeface="Consolas" pitchFamily="34" charset="-120"/>
              </a:rPr>
              <a:t>SERIAL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2221992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content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2221992" y="4416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3849624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3849624" y="4416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ea typeface="Consolas" pitchFamily="34" charset="-122"/>
                <a:cs typeface="Consolas" pitchFamily="34" charset="-120"/>
              </a:rPr>
              <a:t>vector(1536)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5477256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477256" y="4416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ea typeface="Consolas" pitchFamily="34" charset="-122"/>
                <a:cs typeface="Consolas" pitchFamily="34" charset="-120"/>
              </a:rPr>
              <a:t>VARCHAR(50)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7104888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Consolas" pitchFamily="34" charset="-122"/>
                <a:cs typeface="Consolas" pitchFamily="34" charset="-120"/>
              </a:rPr>
              <a:t>source_file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7104888" y="4416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ea typeface="Consolas" pitchFamily="34" charset="-122"/>
                <a:cs typeface="Consolas" pitchFamily="34" charset="-120"/>
              </a:rPr>
              <a:t>VARCHAR(255)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Benefits: New RAG vs Old Modular Approach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00C2A8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194560" cy="411480"/>
          </a:xfrm>
          <a:prstGeom prst="rect">
            <a:avLst/>
          </a:prstGeom>
          <a:solidFill>
            <a:srgbClr val="15233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B7A8A"/>
                </a:solidFill>
                <a:ea typeface="Inter" pitchFamily="34" charset="-122"/>
                <a:cs typeface="Inter" pitchFamily="34" charset="-120"/>
              </a:rPr>
              <a:t>ASPECT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508760"/>
            <a:ext cx="2971800" cy="411480"/>
          </a:xfrm>
          <a:prstGeom prst="rect">
            <a:avLst/>
          </a:prstGeom>
          <a:solidFill>
            <a:srgbClr val="FF7B6B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OLD MODULAR APPROACH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508760"/>
            <a:ext cx="2971800" cy="411480"/>
          </a:xfrm>
          <a:prstGeom prst="rect">
            <a:avLst/>
          </a:prstGeom>
          <a:solidFill>
            <a:srgbClr val="00C2A8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715000" y="1508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NEW RAG APPROACH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219456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19933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19933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88920" y="19933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1993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4 modules (STT/NLU/KG/TTS)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9933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806440" y="19933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1993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Clean RAG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450592"/>
            <a:ext cx="219456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94360" y="24505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LLM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24505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788920" y="24505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Local Ollama (qwen 1.5b)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24505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5806440" y="24505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OpenAI GPT-4o Mini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07792"/>
            <a:ext cx="219456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594360" y="29077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97480" y="29077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2788920" y="29077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3240" y="2907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Neo4j + entity normalization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29077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806440" y="29077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2907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Pure semantic search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364992"/>
            <a:ext cx="219456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594360" y="33649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33649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2788920" y="33649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63240" y="3364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~5GB RAM, multiple DBs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15000" y="33649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5806440" y="33649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80760" y="3364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Single Postgres DB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822192"/>
            <a:ext cx="219456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594360" y="38221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97480" y="38221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2788920" y="3822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63240" y="3822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Inconsistent (hallucination)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15000" y="3822192"/>
            <a:ext cx="297180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5806440" y="3822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80760" y="3822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Reliable, grounded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279392"/>
            <a:ext cx="219456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594360" y="42793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Setup Time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697480" y="42793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2788920" y="42793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063240" y="4279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Days (Neo4j, embedders, models)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15000" y="4279392"/>
            <a:ext cx="2971800" cy="411480"/>
          </a:xfrm>
          <a:prstGeom prst="rect">
            <a:avLst/>
          </a:prstGeom>
          <a:solidFill>
            <a:srgbClr val="0A142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5806440" y="42793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80760" y="4279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Hours (Docker + APIs)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82880" cy="201168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13232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What's Next for UOS ASSISTANT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22860"/>
          </a:xfrm>
          <a:prstGeom prst="rect">
            <a:avLst/>
          </a:prstGeom>
          <a:solidFill>
            <a:srgbClr val="F5B83D">
              <a:alpha val="7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We have a clear roadmap to enhance UOS ASSISTANT beyond the current scope: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621792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5720" cy="62179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777240" cy="228600"/>
          </a:xfrm>
          <a:prstGeom prst="rect">
            <a:avLst/>
          </a:prstGeom>
          <a:solidFill>
            <a:srgbClr val="00C2A8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PHASE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54480" y="1870001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Hybrid Retrieval: KG + Vector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126033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Bring back Neo4j Knowledge Graph alongside the vector DB for multi-hop structured queries — best of both worlds for complex relational questions (e.g., 'show all programs with PKR 30k fee').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8229600" cy="621792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45720" cy="621792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0080" y="2679192"/>
            <a:ext cx="777240" cy="228600"/>
          </a:xfrm>
          <a:prstGeom prst="rect">
            <a:avLst/>
          </a:prstGeom>
          <a:solidFill>
            <a:srgbClr val="F5B83D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PHASE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54480" y="2581761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Outbound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84609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Proactive notifications to students for fee deadlines, exam schedules, and admission updates — extending UOS ASSISTANT from inbound only to a two-way assistant.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45720" cy="621792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777240" cy="228600"/>
          </a:xfrm>
          <a:prstGeom prst="rect">
            <a:avLst/>
          </a:prstGeom>
          <a:solidFill>
            <a:srgbClr val="4A8DDC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40080" y="33924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PHASE 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54480" y="32826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Multi-University 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35524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Generalize the system to support multiple Pakistani universities with isolated knowledge bases — turn UOS ASSISTANT into a reusable platform.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45720" cy="621792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40080" y="4105656"/>
            <a:ext cx="777240" cy="228600"/>
          </a:xfrm>
          <a:prstGeom prst="rect">
            <a:avLst/>
          </a:prstGeom>
          <a:solidFill>
            <a:srgbClr val="FF7B6B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0080" y="4105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PHASE 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54480" y="39959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Fine-tuned Urdu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27024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Train or fine-tune an open Urdu LLM for better local language accuracy, reduce dependency on OpenAI APIs and lower per-call cost.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00C2A8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5B83D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UOS ASSISTANT Delivers Real Impact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7452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&lt; 2s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End-to-end 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1828800"/>
            <a:ext cx="187452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569464" y="1828800"/>
            <a:ext cx="1874520" cy="45720"/>
          </a:xfrm>
          <a:prstGeom prst="rect">
            <a:avLst/>
          </a:prstGeom>
          <a:solidFill>
            <a:srgbClr val="F5B83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569464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83D"/>
                </a:solidFill>
                <a:ea typeface="Inter" pitchFamily="34" charset="-122"/>
                <a:cs typeface="Inter" pitchFamily="34" charset="-120"/>
              </a:rPr>
              <a:t>Urdu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9464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Native voice support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90288" y="1828800"/>
            <a:ext cx="187452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590288" y="1828800"/>
            <a:ext cx="1874520" cy="45720"/>
          </a:xfrm>
          <a:prstGeom prst="rect">
            <a:avLst/>
          </a:prstGeom>
          <a:solidFill>
            <a:srgbClr val="4A8DD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590288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8DDC"/>
                </a:solidFill>
                <a:ea typeface="Inter" pitchFamily="34" charset="-122"/>
                <a:cs typeface="Inter" pitchFamily="34" charset="-120"/>
              </a:rPr>
              <a:t>24/7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90288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Always available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1112" y="1828800"/>
            <a:ext cx="1874520" cy="1371600"/>
          </a:xfrm>
          <a:prstGeom prst="rect">
            <a:avLst/>
          </a:prstGeom>
          <a:solidFill>
            <a:srgbClr val="0F1B2D"/>
          </a:solidFill>
          <a:ln/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611112" y="1828800"/>
            <a:ext cx="1874520" cy="45720"/>
          </a:xfrm>
          <a:prstGeom prst="rect">
            <a:avLst/>
          </a:prstGeom>
          <a:solidFill>
            <a:srgbClr val="FF7B6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611112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7B6B"/>
                </a:solidFill>
                <a:ea typeface="Inter" pitchFamily="34" charset="-122"/>
                <a:cs typeface="Inter" pitchFamily="34" charset="-120"/>
              </a:rPr>
              <a:t>RAG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11112" y="2670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ea typeface="Inter" pitchFamily="34" charset="-122"/>
                <a:cs typeface="Inter" pitchFamily="34" charset="-120"/>
              </a:rPr>
              <a:t>Grounded answers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8046720" cy="1280160"/>
          </a:xfrm>
          <a:prstGeom prst="rect">
            <a:avLst/>
          </a:prstGeom>
          <a:solidFill>
            <a:srgbClr val="152339"/>
          </a:solidFill>
          <a:ln w="63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731520" y="36301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9136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3913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Iterative R&amp;D — pivoted from complex modular KG to clean RAG when evidence demanded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9136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74336" y="3913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Production-grade stack — OpenAI + Google Cloud + PostgreSQL handles real-world 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42976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" y="4297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Urdu-first design — addresses a real accessibility gap for Pakistani university callers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42976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74336" y="4297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BE0"/>
                </a:solidFill>
                <a:ea typeface="Inter" pitchFamily="34" charset="-122"/>
                <a:cs typeface="Inter" pitchFamily="34" charset="-120"/>
              </a:rPr>
              <a:t>Extensible foundation — KG + GraphRAG hybrid planned as next evolution step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956048"/>
            <a:ext cx="8229600" cy="18288"/>
          </a:xfrm>
          <a:prstGeom prst="rect">
            <a:avLst/>
          </a:prstGeom>
          <a:solidFill>
            <a:srgbClr val="1F2D42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2A8">
              <a:alpha val="12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5486400" cy="5486400"/>
          </a:xfrm>
          <a:prstGeom prst="ellipse">
            <a:avLst/>
          </a:prstGeom>
          <a:solidFill>
            <a:srgbClr val="F5B83D">
              <a:alpha val="10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0" y="4114800"/>
            <a:ext cx="2743200" cy="2743200"/>
          </a:xfrm>
          <a:prstGeom prst="ellipse">
            <a:avLst/>
          </a:prstGeom>
          <a:solidFill>
            <a:srgbClr val="FF7B6B">
              <a:alpha val="7000"/>
            </a:srgbClr>
          </a:solidFill>
          <a:ln/>
        </p:spPr>
        <p:txBody>
          <a:bodyPr/>
          <a:lstStyle/>
          <a:p>
            <a:endParaRPr lang="en-PK">
              <a:latin typeface="Inter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0EBE0"/>
                </a:solidFill>
                <a:latin typeface="Inter"/>
                <a:ea typeface="Inter" pitchFamily="34" charset="-122"/>
                <a:cs typeface="Inter" pitchFamily="34" charset="-120"/>
              </a:rPr>
              <a:t>Thank You</a:t>
            </a:r>
            <a:endParaRPr lang="en-US" sz="9000" dirty="0">
              <a:latin typeface="Inte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PK">
              <a:ea typeface="Inter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C2A8"/>
                </a:solidFill>
                <a:latin typeface="Inter" pitchFamily="34" charset="0"/>
                <a:ea typeface="Inter"/>
                <a:cs typeface="Inter" pitchFamily="34" charset="-120"/>
              </a:rPr>
              <a:t>Questions &amp; Discussion</a:t>
            </a:r>
            <a:endParaRPr lang="en-US" sz="2200" dirty="0">
              <a:ea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A"/>
                </a:solidFill>
                <a:latin typeface="Inter"/>
                <a:ea typeface="Inter" pitchFamily="34" charset="-122"/>
                <a:cs typeface="Inter" pitchFamily="34" charset="-120"/>
              </a:rPr>
              <a:t>UOS ASSISTANT  ·  Intelligent University Voice Agent  ·  University of Sargodha</a:t>
            </a:r>
            <a:endParaRPr lang="en-US" sz="1100" dirty="0">
              <a:latin typeface="Inter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3A8"/>
                </a:solidFill>
                <a:latin typeface="Inter"/>
                <a:ea typeface="Inter" pitchFamily="34" charset="-122"/>
                <a:cs typeface="Inter" pitchFamily="34" charset="-120"/>
              </a:rPr>
              <a:t>Muhammad Asmaad Saeed  ·  Laiba Siraj  ·  Fatima Zahid  ·  Areeba Rehman</a:t>
            </a:r>
            <a:endParaRPr lang="en-US" sz="1000" dirty="0"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1844</Words>
  <Application>Microsoft Office PowerPoint</Application>
  <PresentationFormat>On-screen Show (16:9)</PresentationFormat>
  <Paragraphs>431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UniQuery — AI Inbound Calling Agent</dc:title>
  <dc:subject>PptxGenJS Presentation</dc:subject>
  <dc:creator>FYP Team</dc:creator>
  <cp:lastModifiedBy>Asmaad Saeed</cp:lastModifiedBy>
  <cp:revision>54</cp:revision>
  <dcterms:created xsi:type="dcterms:W3CDTF">2026-05-20T21:17:06Z</dcterms:created>
  <dcterms:modified xsi:type="dcterms:W3CDTF">2026-05-21T05:31:35Z</dcterms:modified>
</cp:coreProperties>
</file>